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31"/>
  </p:notesMasterIdLst>
  <p:sldIdLst>
    <p:sldId id="258" r:id="rId3"/>
    <p:sldId id="257" r:id="rId4"/>
    <p:sldId id="259" r:id="rId5"/>
    <p:sldId id="291" r:id="rId6"/>
    <p:sldId id="290" r:id="rId7"/>
    <p:sldId id="301" r:id="rId8"/>
    <p:sldId id="302" r:id="rId9"/>
    <p:sldId id="303" r:id="rId10"/>
    <p:sldId id="305" r:id="rId11"/>
    <p:sldId id="323" r:id="rId12"/>
    <p:sldId id="300" r:id="rId13"/>
    <p:sldId id="306" r:id="rId14"/>
    <p:sldId id="324" r:id="rId15"/>
    <p:sldId id="325" r:id="rId16"/>
    <p:sldId id="326" r:id="rId17"/>
    <p:sldId id="308" r:id="rId18"/>
    <p:sldId id="309" r:id="rId19"/>
    <p:sldId id="310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271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01" autoAdjust="0"/>
  </p:normalViewPr>
  <p:slideViewPr>
    <p:cSldViewPr snapToGrid="0" showGuides="1">
      <p:cViewPr varScale="1">
        <p:scale>
          <a:sx n="80" d="100"/>
          <a:sy n="80" d="100"/>
        </p:scale>
        <p:origin x="10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97918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E98E-289D-4B5C-9E7D-57D7872AAAD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716-6520-46DC-B0AE-CB94D361E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EF79E3C-8B6D-48F3-9EF6-D3F75AA51E7F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E98E-289D-4B5C-9E7D-57D7872AAAD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716-6520-46DC-B0AE-CB94D361E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4E98E-289D-4B5C-9E7D-57D7872AAAD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6D716-6520-46DC-B0AE-CB94D361E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sp useBgFill="1">
        <p:nvSpPr>
          <p:cNvPr id="6" name="圆角矩形 5"/>
          <p:cNvSpPr/>
          <p:nvPr/>
        </p:nvSpPr>
        <p:spPr>
          <a:xfrm>
            <a:off x="1370388" y="1532981"/>
            <a:ext cx="9451224" cy="2889250"/>
          </a:xfrm>
          <a:prstGeom prst="roundRect">
            <a:avLst/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370388" y="1532981"/>
            <a:ext cx="9451224" cy="2889250"/>
          </a:xfrm>
          <a:prstGeom prst="roundRect">
            <a:avLst>
              <a:gd name="adj" fmla="val 16810"/>
            </a:avLst>
          </a:prstGeom>
          <a:solidFill>
            <a:schemeClr val="bg1">
              <a:alpha val="20000"/>
            </a:schemeClr>
          </a:solidFill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790700" y="2423608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基于</a:t>
            </a:r>
            <a:r>
              <a:rPr lang="en-US" altLang="zh-CN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AI</a:t>
            </a:r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的写作训练工具</a:t>
            </a:r>
          </a:p>
        </p:txBody>
      </p:sp>
      <p:sp useBgFill="1">
        <p:nvSpPr>
          <p:cNvPr id="8" name="圆角矩形 7"/>
          <p:cNvSpPr/>
          <p:nvPr/>
        </p:nvSpPr>
        <p:spPr>
          <a:xfrm>
            <a:off x="1370388" y="4936636"/>
            <a:ext cx="9451224" cy="650447"/>
          </a:xfrm>
          <a:prstGeom prst="roundRect">
            <a:avLst>
              <a:gd name="adj" fmla="val 50000"/>
            </a:avLst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790700" y="5083276"/>
            <a:ext cx="213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指导教师：索剑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078609" y="5077194"/>
            <a:ext cx="2305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团队名称：计算文学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7EE2B6-AD6F-DE26-0A80-244451420647}"/>
              </a:ext>
            </a:extLst>
          </p:cNvPr>
          <p:cNvSpPr txBox="1"/>
          <p:nvPr/>
        </p:nvSpPr>
        <p:spPr>
          <a:xfrm>
            <a:off x="6540289" y="5077194"/>
            <a:ext cx="386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团队成员：林锭炜、郭晓明、黄坤涛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sp useBgFill="1">
        <p:nvSpPr>
          <p:cNvPr id="2" name="圆角矩形 1"/>
          <p:cNvSpPr/>
          <p:nvPr/>
        </p:nvSpPr>
        <p:spPr>
          <a:xfrm>
            <a:off x="1370388" y="1748654"/>
            <a:ext cx="9451224" cy="4484642"/>
          </a:xfrm>
          <a:prstGeom prst="roundRect">
            <a:avLst>
              <a:gd name="adj" fmla="val 6047"/>
            </a:avLst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4371975" y="608139"/>
            <a:ext cx="3457575" cy="877387"/>
          </a:xfrm>
          <a:prstGeom prst="roundRect">
            <a:avLst>
              <a:gd name="adj" fmla="val 21121"/>
            </a:avLst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1370388" y="1748654"/>
            <a:ext cx="9451224" cy="4484642"/>
          </a:xfrm>
          <a:prstGeom prst="roundRect">
            <a:avLst>
              <a:gd name="adj" fmla="val 6047"/>
            </a:avLst>
          </a:prstGeom>
          <a:solidFill>
            <a:schemeClr val="bg1">
              <a:alpha val="20000"/>
            </a:schemeClr>
          </a:solidFill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483218" y="659889"/>
            <a:ext cx="2584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CONTENTS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Heavy" pitchFamily="18" charset="-122"/>
              <a:ea typeface="阿里巴巴普惠体 Heavy" pitchFamily="18" charset="-122"/>
            </a:endParaRPr>
          </a:p>
        </p:txBody>
      </p:sp>
      <p:sp>
        <p:nvSpPr>
          <p:cNvPr id="6" name="文本框 6"/>
          <p:cNvSpPr txBox="1"/>
          <p:nvPr/>
        </p:nvSpPr>
        <p:spPr>
          <a:xfrm>
            <a:off x="4292630" y="2741892"/>
            <a:ext cx="32829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  <a:cs typeface="+mn-ea"/>
                <a:sym typeface="+mn-lt"/>
              </a:rPr>
              <a:t>产品核心价值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4292630" y="3722410"/>
            <a:ext cx="164147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  <a:cs typeface="+mn-ea"/>
                <a:sym typeface="+mn-lt"/>
              </a:rPr>
              <a:t>技术选型</a:t>
            </a:r>
          </a:p>
        </p:txBody>
      </p:sp>
      <p:sp>
        <p:nvSpPr>
          <p:cNvPr id="8" name="文本框 8"/>
          <p:cNvSpPr txBox="1"/>
          <p:nvPr/>
        </p:nvSpPr>
        <p:spPr>
          <a:xfrm>
            <a:off x="4292630" y="4723090"/>
            <a:ext cx="82073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  <a:cs typeface="+mn-ea"/>
                <a:sym typeface="+mn-lt"/>
              </a:rPr>
              <a:t>数据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5133975" y="1293797"/>
            <a:ext cx="192405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3457981" y="2677365"/>
            <a:ext cx="609600" cy="646331"/>
            <a:chOff x="1956176" y="2736224"/>
            <a:chExt cx="609600" cy="646331"/>
          </a:xfrm>
        </p:grpSpPr>
        <p:sp>
          <p:nvSpPr>
            <p:cNvPr id="23" name="椭圆 22"/>
            <p:cNvSpPr/>
            <p:nvPr/>
          </p:nvSpPr>
          <p:spPr>
            <a:xfrm>
              <a:off x="1956176" y="2742172"/>
              <a:ext cx="609600" cy="6096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055054" y="2736224"/>
              <a:ext cx="4651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 Heavy" pitchFamily="18" charset="-122"/>
                  <a:ea typeface="阿里巴巴普惠体 Heavy" pitchFamily="18" charset="-122"/>
                </a:rPr>
                <a:t>1</a:t>
              </a:r>
              <a:endPara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457981" y="3667809"/>
            <a:ext cx="609600" cy="646331"/>
            <a:chOff x="1956176" y="2736224"/>
            <a:chExt cx="609600" cy="646331"/>
          </a:xfrm>
        </p:grpSpPr>
        <p:sp>
          <p:nvSpPr>
            <p:cNvPr id="27" name="椭圆 26"/>
            <p:cNvSpPr/>
            <p:nvPr/>
          </p:nvSpPr>
          <p:spPr>
            <a:xfrm>
              <a:off x="1956176" y="2742172"/>
              <a:ext cx="609600" cy="6096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055054" y="2736224"/>
              <a:ext cx="4651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 Heavy" pitchFamily="18" charset="-122"/>
                  <a:ea typeface="阿里巴巴普惠体 Heavy" pitchFamily="18" charset="-122"/>
                </a:rPr>
                <a:t>2</a:t>
              </a:r>
              <a:endPara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457981" y="4655568"/>
            <a:ext cx="609600" cy="646331"/>
            <a:chOff x="1956176" y="2736224"/>
            <a:chExt cx="609600" cy="646331"/>
          </a:xfrm>
        </p:grpSpPr>
        <p:sp>
          <p:nvSpPr>
            <p:cNvPr id="30" name="椭圆 29"/>
            <p:cNvSpPr/>
            <p:nvPr/>
          </p:nvSpPr>
          <p:spPr>
            <a:xfrm>
              <a:off x="1956176" y="2742172"/>
              <a:ext cx="609600" cy="6096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055054" y="2736224"/>
              <a:ext cx="4651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 Heavy" pitchFamily="18" charset="-122"/>
                  <a:ea typeface="阿里巴巴普惠体 Heavy" pitchFamily="18" charset="-122"/>
                </a:rPr>
                <a:t>3</a:t>
              </a:r>
              <a:endPara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sp useBgFill="1">
        <p:nvSpPr>
          <p:cNvPr id="3" name="圆角矩形 2"/>
          <p:cNvSpPr/>
          <p:nvPr/>
        </p:nvSpPr>
        <p:spPr>
          <a:xfrm>
            <a:off x="1457181" y="963453"/>
            <a:ext cx="9277638" cy="4909321"/>
          </a:xfrm>
          <a:prstGeom prst="roundRect">
            <a:avLst>
              <a:gd name="adj" fmla="val 6047"/>
            </a:avLst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1457181" y="985227"/>
            <a:ext cx="9277639" cy="4909320"/>
          </a:xfrm>
          <a:prstGeom prst="roundRect">
            <a:avLst>
              <a:gd name="adj" fmla="val 6047"/>
            </a:avLst>
          </a:prstGeom>
          <a:solidFill>
            <a:schemeClr val="bg1">
              <a:alpha val="20000"/>
            </a:schemeClr>
          </a:solidFill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13038" y="1840759"/>
            <a:ext cx="328808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99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01</a:t>
            </a:r>
            <a:endParaRPr lang="zh-CN" altLang="en-US" sz="199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Heavy" pitchFamily="18" charset="-122"/>
              <a:ea typeface="阿里巴巴普惠体 Heavy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E956CB-A950-279E-9B74-013C15BDFE29}"/>
              </a:ext>
            </a:extLst>
          </p:cNvPr>
          <p:cNvSpPr txBox="1"/>
          <p:nvPr/>
        </p:nvSpPr>
        <p:spPr>
          <a:xfrm>
            <a:off x="4996582" y="2162614"/>
            <a:ext cx="50377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  <a:cs typeface="+mn-ea"/>
                <a:sym typeface="+mn-lt"/>
              </a:rPr>
              <a:t>产品核心价值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/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/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/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/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产品核心价值</a:t>
            </a:r>
          </a:p>
        </p:txBody>
      </p:sp>
      <p:sp useBgFill="1">
        <p:nvSpPr>
          <p:cNvPr id="16" name="圆角矩形 2">
            <a:extLst>
              <a:ext uri="{FF2B5EF4-FFF2-40B4-BE49-F238E27FC236}">
                <a16:creationId xmlns:a16="http://schemas.microsoft.com/office/drawing/2014/main" id="{623FB21B-795A-BC5F-C0BE-A01FC7BBABAA}"/>
              </a:ext>
            </a:extLst>
          </p:cNvPr>
          <p:cNvSpPr/>
          <p:nvPr/>
        </p:nvSpPr>
        <p:spPr>
          <a:xfrm>
            <a:off x="1975155" y="1299820"/>
            <a:ext cx="3648359" cy="4909321"/>
          </a:xfrm>
          <a:prstGeom prst="roundRect">
            <a:avLst>
              <a:gd name="adj" fmla="val 6047"/>
            </a:avLst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8" name="圆角矩形 2">
            <a:extLst>
              <a:ext uri="{FF2B5EF4-FFF2-40B4-BE49-F238E27FC236}">
                <a16:creationId xmlns:a16="http://schemas.microsoft.com/office/drawing/2014/main" id="{BEEBBB31-A8F2-726E-852C-4C6CA84375E1}"/>
              </a:ext>
            </a:extLst>
          </p:cNvPr>
          <p:cNvSpPr/>
          <p:nvPr/>
        </p:nvSpPr>
        <p:spPr>
          <a:xfrm>
            <a:off x="6462999" y="1315181"/>
            <a:ext cx="3648359" cy="4909321"/>
          </a:xfrm>
          <a:prstGeom prst="roundRect">
            <a:avLst>
              <a:gd name="adj" fmla="val 6047"/>
            </a:avLst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13">
            <a:extLst>
              <a:ext uri="{FF2B5EF4-FFF2-40B4-BE49-F238E27FC236}">
                <a16:creationId xmlns:a16="http://schemas.microsoft.com/office/drawing/2014/main" id="{ED19061A-806D-4B18-9DDF-A23B6EDE0364}"/>
              </a:ext>
            </a:extLst>
          </p:cNvPr>
          <p:cNvSpPr/>
          <p:nvPr/>
        </p:nvSpPr>
        <p:spPr>
          <a:xfrm>
            <a:off x="1975155" y="1290362"/>
            <a:ext cx="3648359" cy="4909320"/>
          </a:xfrm>
          <a:prstGeom prst="roundRect">
            <a:avLst>
              <a:gd name="adj" fmla="val 6047"/>
            </a:avLst>
          </a:prstGeom>
          <a:solidFill>
            <a:schemeClr val="bg1">
              <a:alpha val="20000"/>
            </a:schemeClr>
          </a:solidFill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圆角矩形 13">
            <a:extLst>
              <a:ext uri="{FF2B5EF4-FFF2-40B4-BE49-F238E27FC236}">
                <a16:creationId xmlns:a16="http://schemas.microsoft.com/office/drawing/2014/main" id="{2C1504B6-2751-B187-D4D5-FC81E9999759}"/>
              </a:ext>
            </a:extLst>
          </p:cNvPr>
          <p:cNvSpPr/>
          <p:nvPr/>
        </p:nvSpPr>
        <p:spPr>
          <a:xfrm>
            <a:off x="6462999" y="1315181"/>
            <a:ext cx="3648359" cy="4909320"/>
          </a:xfrm>
          <a:prstGeom prst="roundRect">
            <a:avLst>
              <a:gd name="adj" fmla="val 6047"/>
            </a:avLst>
          </a:prstGeom>
          <a:solidFill>
            <a:schemeClr val="bg1">
              <a:alpha val="20000"/>
            </a:schemeClr>
          </a:solidFill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140520-32D5-4BEE-A2B4-1BBD681131C6}"/>
              </a:ext>
            </a:extLst>
          </p:cNvPr>
          <p:cNvSpPr txBox="1"/>
          <p:nvPr/>
        </p:nvSpPr>
        <p:spPr>
          <a:xfrm>
            <a:off x="2080642" y="1478363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i="0" dirty="0">
                <a:solidFill>
                  <a:srgbClr val="C00000"/>
                </a:solidFill>
                <a:effectLst/>
                <a:latin typeface="quote-cjk-patch"/>
              </a:rPr>
              <a:t>传统写作教学痛点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B2B0E5-FF93-62A2-E8B7-CC9DFD2A1861}"/>
              </a:ext>
            </a:extLst>
          </p:cNvPr>
          <p:cNvSpPr txBox="1"/>
          <p:nvPr/>
        </p:nvSpPr>
        <p:spPr>
          <a:xfrm>
            <a:off x="2080642" y="2583036"/>
            <a:ext cx="3375606" cy="2375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quote-cjk-patch"/>
              </a:rPr>
              <a:t>✗ 教师批改工作量大，反馈延迟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quote-cjk-patch"/>
              </a:rPr>
              <a:t>✗ 缺乏个性化训练方案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quote-cjk-patch"/>
              </a:rPr>
              <a:t>✗ 能力进步难以量化跟踪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3DBD8A-8172-54B4-21B4-264AE444FC23}"/>
              </a:ext>
            </a:extLst>
          </p:cNvPr>
          <p:cNvSpPr txBox="1"/>
          <p:nvPr/>
        </p:nvSpPr>
        <p:spPr>
          <a:xfrm>
            <a:off x="6793391" y="1478363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i="0" dirty="0">
                <a:solidFill>
                  <a:schemeClr val="accent6">
                    <a:lumMod val="50000"/>
                  </a:schemeClr>
                </a:solidFill>
                <a:effectLst/>
                <a:latin typeface="quote-cjk-patch"/>
              </a:rPr>
              <a:t>我们的解决方案</a:t>
            </a:r>
            <a:endParaRPr lang="zh-CN" alt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1BBFB1-93B8-4B62-1FA3-7673CD5CA973}"/>
              </a:ext>
            </a:extLst>
          </p:cNvPr>
          <p:cNvSpPr txBox="1"/>
          <p:nvPr/>
        </p:nvSpPr>
        <p:spPr>
          <a:xfrm>
            <a:off x="6599374" y="2499529"/>
            <a:ext cx="33756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quote-cjk-patch"/>
              </a:rPr>
              <a:t>✓ </a:t>
            </a:r>
            <a:r>
              <a:rPr lang="en-US" altLang="zh-CN" sz="2400" b="0" i="0" dirty="0">
                <a:effectLst/>
                <a:latin typeface="quote-cjk-patch"/>
              </a:rPr>
              <a:t>AI</a:t>
            </a:r>
            <a:r>
              <a:rPr lang="zh-CN" altLang="en-US" sz="2400" b="0" i="0" dirty="0">
                <a:effectLst/>
                <a:latin typeface="quote-cjk-patch"/>
              </a:rPr>
              <a:t>即时批改，秒级反馈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quote-cjk-patch"/>
              </a:rPr>
              <a:t>✓ 个性化渐进式训练计划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quote-cjk-patch"/>
              </a:rPr>
              <a:t>✓ 多维能力量化分析</a:t>
            </a:r>
          </a:p>
        </p:txBody>
      </p:sp>
    </p:spTree>
    <p:extLst>
      <p:ext uri="{BB962C8B-B14F-4D97-AF65-F5344CB8AC3E}">
        <p14:creationId xmlns:p14="http://schemas.microsoft.com/office/powerpoint/2010/main" val="35530373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3" name="组合 2"/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4" name="圆角矩形 3"/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Arial"/>
                </a:endParaRPr>
              </a:p>
            </p:txBody>
          </p:sp>
          <p:sp>
            <p:nvSpPr>
              <p:cNvPr id="5" name="圆角矩形 4"/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Arial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7" name="圆角矩形 6"/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Arial"/>
                </a:endParaRPr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Arial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2"/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 Heavy" pitchFamily="18" charset="-122"/>
                <a:ea typeface="阿里巴巴普惠体 Heavy" pitchFamily="18" charset="-122"/>
                <a:cs typeface="Arial"/>
              </a:rPr>
              <a:t>关键业务功能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1466850" y="3781425"/>
            <a:ext cx="92583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2066925" y="3709987"/>
            <a:ext cx="142876" cy="14287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Arial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066784" y="3709987"/>
            <a:ext cx="142876" cy="14287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Arial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726717" y="3709987"/>
            <a:ext cx="142876" cy="14287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Arial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816769" y="3045588"/>
            <a:ext cx="2638425" cy="428625"/>
            <a:chOff x="5486399" y="2147888"/>
            <a:chExt cx="1676401" cy="428625"/>
          </a:xfrm>
        </p:grpSpPr>
        <p:sp>
          <p:nvSpPr>
            <p:cNvPr id="27" name="圆角矩形 26"/>
            <p:cNvSpPr/>
            <p:nvPr/>
          </p:nvSpPr>
          <p:spPr>
            <a:xfrm>
              <a:off x="5486399" y="2147888"/>
              <a:ext cx="1676401" cy="42862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Arial"/>
              </a:endParaRPr>
            </a:p>
          </p:txBody>
        </p:sp>
        <p:sp>
          <p:nvSpPr>
            <p:cNvPr id="28" name="文本框 2"/>
            <p:cNvSpPr txBox="1"/>
            <p:nvPr/>
          </p:nvSpPr>
          <p:spPr>
            <a:xfrm>
              <a:off x="5572124" y="2162145"/>
              <a:ext cx="1504950" cy="400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BEBEB"/>
                  </a:solidFill>
                  <a:effectLst/>
                  <a:uLnTx/>
                  <a:uFillTx/>
                  <a:latin typeface="阿里巴巴普惠体 Heavy" pitchFamily="18" charset="-122"/>
                  <a:ea typeface="阿里巴巴普惠体 Heavy" pitchFamily="18" charset="-122"/>
                  <a:cs typeface="Arial"/>
                </a:rPr>
                <a:t>训练计划生成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764569" y="4010605"/>
            <a:ext cx="3290512" cy="212763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输入：学生能力档案、学习目标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输出：个性化渐进式训练方案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算法：基于能力的题目推荐算法和题目生成算法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5002172" y="4086225"/>
            <a:ext cx="2278855" cy="428625"/>
            <a:chOff x="5486399" y="2147888"/>
            <a:chExt cx="1676401" cy="428625"/>
          </a:xfrm>
        </p:grpSpPr>
        <p:sp>
          <p:nvSpPr>
            <p:cNvPr id="32" name="圆角矩形 31"/>
            <p:cNvSpPr/>
            <p:nvPr/>
          </p:nvSpPr>
          <p:spPr>
            <a:xfrm>
              <a:off x="5486399" y="2147888"/>
              <a:ext cx="1676401" cy="42862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Arial"/>
              </a:endParaRPr>
            </a:p>
          </p:txBody>
        </p:sp>
        <p:sp>
          <p:nvSpPr>
            <p:cNvPr id="33" name="文本框 2"/>
            <p:cNvSpPr txBox="1"/>
            <p:nvPr/>
          </p:nvSpPr>
          <p:spPr>
            <a:xfrm>
              <a:off x="5572124" y="2162145"/>
              <a:ext cx="1504950" cy="400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BEBEB"/>
                  </a:solidFill>
                  <a:effectLst/>
                  <a:uLnTx/>
                  <a:uFillTx/>
                  <a:latin typeface="阿里巴巴普惠体 Heavy" pitchFamily="18" charset="-122"/>
                  <a:ea typeface="阿里巴巴普惠体 Heavy" pitchFamily="18" charset="-122"/>
                  <a:cs typeface="Arial"/>
                </a:rPr>
                <a:t>AI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BEBEB"/>
                  </a:solidFill>
                  <a:effectLst/>
                  <a:uLnTx/>
                  <a:uFillTx/>
                  <a:latin typeface="阿里巴巴普惠体 Heavy" pitchFamily="18" charset="-122"/>
                  <a:ea typeface="阿里巴巴普惠体 Heavy" pitchFamily="18" charset="-122"/>
                  <a:cs typeface="Arial"/>
                </a:rPr>
                <a:t>智能批改</a:t>
              </a:r>
            </a:p>
          </p:txBody>
        </p:sp>
      </p:grpSp>
      <p:sp>
        <p:nvSpPr>
          <p:cNvPr id="34" name="矩形 33"/>
          <p:cNvSpPr/>
          <p:nvPr/>
        </p:nvSpPr>
        <p:spPr>
          <a:xfrm>
            <a:off x="4804388" y="1724712"/>
            <a:ext cx="3004735" cy="17121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输入：学生作文文本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输出：多维评分</a:t>
            </a:r>
            <a:r>
              <a:rPr lang="en-US" altLang="zh-CN" dirty="0"/>
              <a:t>+</a:t>
            </a:r>
            <a:r>
              <a:rPr lang="zh-CN" altLang="en-US" dirty="0"/>
              <a:t>详细修改建议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算法：多模型</a:t>
            </a:r>
            <a:r>
              <a:rPr lang="en-US" altLang="zh-CN" dirty="0"/>
              <a:t>NLP</a:t>
            </a:r>
            <a:r>
              <a:rPr lang="zh-CN" altLang="en-US" dirty="0"/>
              <a:t>集成分析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8514662" y="3045588"/>
            <a:ext cx="2566986" cy="428625"/>
            <a:chOff x="5486399" y="2147888"/>
            <a:chExt cx="1676401" cy="428625"/>
          </a:xfrm>
        </p:grpSpPr>
        <p:sp>
          <p:nvSpPr>
            <p:cNvPr id="36" name="圆角矩形 35"/>
            <p:cNvSpPr/>
            <p:nvPr/>
          </p:nvSpPr>
          <p:spPr>
            <a:xfrm>
              <a:off x="5486399" y="2147888"/>
              <a:ext cx="1676401" cy="42862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Arial"/>
              </a:endParaRPr>
            </a:p>
          </p:txBody>
        </p:sp>
        <p:sp>
          <p:nvSpPr>
            <p:cNvPr id="37" name="文本框 2"/>
            <p:cNvSpPr txBox="1"/>
            <p:nvPr/>
          </p:nvSpPr>
          <p:spPr>
            <a:xfrm>
              <a:off x="5572124" y="2162145"/>
              <a:ext cx="1504950" cy="400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BEBEB"/>
                  </a:solidFill>
                  <a:effectLst/>
                  <a:uLnTx/>
                  <a:uFillTx/>
                  <a:latin typeface="阿里巴巴普惠体 Heavy" pitchFamily="18" charset="-122"/>
                  <a:ea typeface="阿里巴巴普惠体 Heavy" pitchFamily="18" charset="-122"/>
                  <a:cs typeface="Arial"/>
                </a:rPr>
                <a:t>能力追踪分析</a:t>
              </a:r>
            </a:p>
          </p:txBody>
        </p:sp>
      </p:grpSp>
      <p:sp>
        <p:nvSpPr>
          <p:cNvPr id="38" name="矩形 37"/>
          <p:cNvSpPr/>
          <p:nvPr/>
        </p:nvSpPr>
        <p:spPr>
          <a:xfrm>
            <a:off x="8514662" y="4056752"/>
            <a:ext cx="2749339" cy="129663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输入：历史批改数据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输出：能力趋势报告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算法：时间序列趋势分析</a:t>
            </a:r>
          </a:p>
        </p:txBody>
      </p:sp>
    </p:spTree>
    <p:extLst>
      <p:ext uri="{BB962C8B-B14F-4D97-AF65-F5344CB8AC3E}">
        <p14:creationId xmlns:p14="http://schemas.microsoft.com/office/powerpoint/2010/main" val="37115311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2F82-A3F0-2697-9B7F-B16075204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DACC154-2D9D-B177-7DD9-CAEA09C851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BF48C135-FF17-C49F-6A34-3E76E09201B0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4ABEF8B-B363-D618-2142-C61491D18258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88370B5D-B5CC-6BC8-5B3F-E07F5F78B6D3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2B8E86A5-DD7B-72DB-4E82-961D4BE77E19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BFF06D1-3D26-83D9-9CA0-B959A8F4F0ED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2B0A5E52-733E-BE96-930A-617453ED7CA3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B2414F85-46D0-2BC7-0E23-61D60F7AF021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765404D-9C6F-C52D-866A-8B87F3D6BCBE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E3AE241-5515-E816-2D6F-0BAC14EC79E1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CEA9B2F-C8BA-1C79-E665-F203D775EBDB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15308E03-C86D-80D3-8814-A5892EED11B1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核心用户界面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14745FC-5EC4-9164-3E25-B7C1FFB60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274" y="964751"/>
            <a:ext cx="9649451" cy="561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7401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865E-14D6-E96D-DB37-9DADA368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6984484-0997-DB37-5E68-03821242E2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28E9C02-8317-4D4D-D5DC-78828441A8D4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DF06CD5-F7DC-E22F-C33D-11E4E3E473E9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EAFED484-F85C-D3FF-FD52-5DBFD008E5B5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9774034A-DA62-E943-7E1E-8359FF98DF22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ECEB925-D900-4014-FF8D-E7AA7BABF468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364C2C6D-E126-477E-4B7F-DA651D96ECD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C7F1940B-D276-4150-4D23-C40731A6B9C8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C2283ED-7C41-5ED6-017C-9C44A4FC9F82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D781260-316C-D849-2461-2998EC144E78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8522A7D-7F18-36D2-0BA2-04C71CCA7DAA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85A50264-062F-544F-8B91-6EAED79DBF12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核心用户界面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97A7ACE-BF93-F603-559A-1CF05C3BE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244" y="965664"/>
            <a:ext cx="9409512" cy="562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4779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6D97-26A6-7045-AC74-CEA7EF18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1E9F970-645B-A128-9225-3FFE3D193D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26470AAC-0DF2-D56E-A063-501146D650DC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A3DEE2D-7E18-025A-7582-4B5588AE1C24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EB154FA5-FE15-54CB-5265-84D204CBE5E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30C53B7A-6EE2-6D5C-6A25-88070BF2982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EE4910D-D6FA-2243-8C6E-C414DE665207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E8B2561E-867E-84D9-165B-3E9476AFF20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54630262-F125-EDC2-FB8C-F69D3DD6BD83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C3BCAA2-9890-487B-E9A7-01F6FCA9E02E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8E0C8D2-4296-10F4-5003-694D7C9FD2F4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4B289B4-CC18-9362-2826-DBA838655A7E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B1E70F64-5269-2780-4E11-AFEC34FE95FB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核心用户界面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19731FA-046B-08B6-CFDA-6C4FF352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83" y="895904"/>
            <a:ext cx="9756634" cy="575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3572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C588E-006A-1426-2A2C-FD8E9C60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BA4AEC8-1331-0A02-1CD2-501C51F5E0D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E728A54-3A79-D4FE-B2D6-14D8A81B8B15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0055411-DB99-32AD-3CDC-77E4B986EF3B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CDADC3BC-9992-5E9C-9E3B-B38A13E6FE9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A707E1AA-0A26-9DA5-4222-C28927F12C7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A12D8FA-C9A6-E857-1216-7D309DF21988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F8A896B0-2F94-0749-D0BD-34B0D8103E84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CB2C166F-8B7A-7103-1A3C-8DC2D640F6D3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64A22E6-653E-52D3-555B-0AAE7CC56066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019DFE-2039-2323-EC79-48CC9472DD34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4D2EA98-1E33-3CD8-861B-E11E77829D44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07E48163-F251-E146-1BE2-45D1C784F04B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核心用户界面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CABB5C6-7CB8-E80C-0B9D-1149FB342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38" y="969897"/>
            <a:ext cx="9572323" cy="561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257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60586-D6FF-98B3-2CD1-B30AAD22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F24797F-5208-7844-D3E4-EC832014B84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8CBEFBD-67CB-0AF1-8F37-B7DA974E30FA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88EF133-282C-B570-0D43-753B0FE9C4A1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93F49B67-A968-08A7-821B-9867DE9B8CFE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9BA6BEE9-38AA-5DF8-ED3C-5BB876AA6F10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4DD9273-118E-B569-4855-B26BF2920DB5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CFA78BD7-837E-678D-293C-E8955B7CAE06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CE102C05-7D9B-B2BA-9036-E5D23EB9E324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EFCC77D-1811-572A-CB97-06BF4D46F1F4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7200668-FC2E-4958-D675-D5E9B043498C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86069FA-4454-03AB-4080-798B8B326211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8C0EFC08-4CDA-7470-AAE5-385314695960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核心用户界面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18F3511-C988-ECA3-A0A8-D5674737D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130" y="967083"/>
            <a:ext cx="9607740" cy="559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9083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E28C-4D0A-DD9B-463A-112446E9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6FE5FA1-CAF2-78CB-EDF6-47C95C9EA8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sp useBgFill="1">
        <p:nvSpPr>
          <p:cNvPr id="3" name="圆角矩形 2">
            <a:extLst>
              <a:ext uri="{FF2B5EF4-FFF2-40B4-BE49-F238E27FC236}">
                <a16:creationId xmlns:a16="http://schemas.microsoft.com/office/drawing/2014/main" id="{660F16D0-336F-F43D-E30B-F4A43EE019C1}"/>
              </a:ext>
            </a:extLst>
          </p:cNvPr>
          <p:cNvSpPr/>
          <p:nvPr/>
        </p:nvSpPr>
        <p:spPr>
          <a:xfrm>
            <a:off x="1457181" y="963453"/>
            <a:ext cx="9277638" cy="4909321"/>
          </a:xfrm>
          <a:prstGeom prst="roundRect">
            <a:avLst>
              <a:gd name="adj" fmla="val 6047"/>
            </a:avLst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92DB781-4099-CC6D-B2AD-0B1C173A0911}"/>
              </a:ext>
            </a:extLst>
          </p:cNvPr>
          <p:cNvSpPr/>
          <p:nvPr/>
        </p:nvSpPr>
        <p:spPr>
          <a:xfrm>
            <a:off x="1457180" y="963452"/>
            <a:ext cx="9277639" cy="4909320"/>
          </a:xfrm>
          <a:prstGeom prst="roundRect">
            <a:avLst>
              <a:gd name="adj" fmla="val 6047"/>
            </a:avLst>
          </a:prstGeom>
          <a:solidFill>
            <a:schemeClr val="bg1">
              <a:alpha val="20000"/>
            </a:schemeClr>
          </a:solidFill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08D5EE-A1E0-FDB3-FB14-8433EFD9CBE3}"/>
              </a:ext>
            </a:extLst>
          </p:cNvPr>
          <p:cNvSpPr txBox="1"/>
          <p:nvPr/>
        </p:nvSpPr>
        <p:spPr>
          <a:xfrm>
            <a:off x="1913038" y="1840759"/>
            <a:ext cx="317907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99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02</a:t>
            </a:r>
            <a:endParaRPr lang="zh-CN" altLang="en-US" sz="199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Heavy" pitchFamily="18" charset="-122"/>
              <a:ea typeface="阿里巴巴普惠体 Heavy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6F536E-DBC3-FA0D-8818-DBFC33215CC3}"/>
              </a:ext>
            </a:extLst>
          </p:cNvPr>
          <p:cNvSpPr txBox="1"/>
          <p:nvPr/>
        </p:nvSpPr>
        <p:spPr>
          <a:xfrm>
            <a:off x="5092113" y="2756393"/>
            <a:ext cx="5414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  <a:cs typeface="+mn-ea"/>
                <a:sym typeface="+mn-lt"/>
              </a:rPr>
              <a:t>技术选型</a:t>
            </a:r>
          </a:p>
        </p:txBody>
      </p:sp>
    </p:spTree>
    <p:extLst>
      <p:ext uri="{BB962C8B-B14F-4D97-AF65-F5344CB8AC3E}">
        <p14:creationId xmlns:p14="http://schemas.microsoft.com/office/powerpoint/2010/main" val="348373579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57253-C6AD-70B9-0DED-6D9FD5BC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82C8EE-8831-0D75-0818-B9AA152C3F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0F2A4E5E-EF86-008D-9C68-DA7B9C8598E0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50F1885-8610-C17A-7E31-FD1695B2E4AB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1F8373E7-B1AC-229E-2664-55962DCAEAAD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891334C9-3569-2980-7A2D-2B6CC49A9E81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8BD5263-B75E-5B28-2F52-930A68014623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017C32F8-44F6-E9E3-9C7F-9130226F9044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6043BDFC-BC15-CEA7-D3D8-9AB3664CBB85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01F93B-A496-0A2D-FEBA-D28312E1AB66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10EF9ED-26CB-7E8B-0A14-08787E61497E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A276771-75B1-75A7-565C-01C01ED0C30E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47DB227D-73CD-0B64-BBA5-3273FF7DE08D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技术选型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5968ED2-E646-9CB0-3F34-D0AA78BCF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267186"/>
              </p:ext>
            </p:extLst>
          </p:nvPr>
        </p:nvGraphicFramePr>
        <p:xfrm>
          <a:off x="1148681" y="1593959"/>
          <a:ext cx="9894637" cy="4273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579">
                  <a:extLst>
                    <a:ext uri="{9D8B030D-6E8A-4147-A177-3AD203B41FA5}">
                      <a16:colId xmlns:a16="http://schemas.microsoft.com/office/drawing/2014/main" val="1873824612"/>
                    </a:ext>
                  </a:extLst>
                </a:gridCol>
                <a:gridCol w="2288729">
                  <a:extLst>
                    <a:ext uri="{9D8B030D-6E8A-4147-A177-3AD203B41FA5}">
                      <a16:colId xmlns:a16="http://schemas.microsoft.com/office/drawing/2014/main" val="2187910088"/>
                    </a:ext>
                  </a:extLst>
                </a:gridCol>
                <a:gridCol w="5713329">
                  <a:extLst>
                    <a:ext uri="{9D8B030D-6E8A-4147-A177-3AD203B41FA5}">
                      <a16:colId xmlns:a16="http://schemas.microsoft.com/office/drawing/2014/main" val="4030750283"/>
                    </a:ext>
                  </a:extLst>
                </a:gridCol>
              </a:tblGrid>
              <a:tr h="459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类别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技术选型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选型理由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55386874"/>
                  </a:ext>
                </a:extLst>
              </a:tr>
              <a:tr h="10403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核心框架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Vue 3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理由：</a:t>
                      </a:r>
                      <a:r>
                        <a:rPr lang="zh-CN" sz="1600" kern="0">
                          <a:effectLst/>
                          <a:latin typeface="等线" panose="02010600030101010101" pitchFamily="2" charset="-122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渐进式框架，学习曲线平缓，性能出色（</a:t>
                      </a:r>
                      <a:r>
                        <a:rPr lang="en-US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Composition API</a:t>
                      </a: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）。生态系统成熟，非常适合快速构建功能丰富的单页应用（</a:t>
                      </a:r>
                      <a:r>
                        <a:rPr lang="en-US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SPA</a:t>
                      </a: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）。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1161000"/>
                  </a:ext>
                </a:extLst>
              </a:tr>
              <a:tr h="10403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 </a:t>
                      </a: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框架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Element Plus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理由：</a:t>
                      </a:r>
                      <a:r>
                        <a:rPr lang="zh-CN" sz="1600" kern="0">
                          <a:effectLst/>
                          <a:latin typeface="等线" panose="02010600030101010101" pitchFamily="2" charset="-122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提供高质量、开箱即用的</a:t>
                      </a:r>
                      <a:r>
                        <a:rPr lang="en-US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</a:t>
                      </a: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组件（如对话框、表单、表格），极大加快开发速度，保证界面统一和专业性。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0358715"/>
                  </a:ext>
                </a:extLst>
              </a:tr>
              <a:tr h="6932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构建工具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Vite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理由：</a:t>
                      </a:r>
                      <a:r>
                        <a:rPr lang="en-US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Vue 3 </a:t>
                      </a: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的官方推荐，提供闪电般的冷启动和热更新速度，极大提升开发体验。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1030722"/>
                  </a:ext>
                </a:extLst>
              </a:tr>
              <a:tr h="10403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状态管理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Pinia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理由：</a:t>
                      </a:r>
                      <a:r>
                        <a:rPr lang="en-US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Vue 3 </a:t>
                      </a:r>
                      <a:r>
                        <a:rPr lang="zh-CN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的官方状态管理库，轻量、易用，完美支持</a:t>
                      </a:r>
                      <a:r>
                        <a:rPr lang="en-US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Vue 3 </a:t>
                      </a:r>
                      <a:r>
                        <a:rPr lang="zh-CN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的组合式</a:t>
                      </a:r>
                      <a:r>
                        <a:rPr lang="en-US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API</a:t>
                      </a:r>
                      <a:r>
                        <a:rPr lang="zh-CN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，比</a:t>
                      </a:r>
                      <a:r>
                        <a:rPr lang="en-US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0" dirty="0" err="1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Vuex</a:t>
                      </a:r>
                      <a:r>
                        <a:rPr lang="en-US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更简洁。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206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63507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C7C8-A9E8-1EE4-ADB4-32004352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F8C13A5-E791-58E3-8134-4C7716A1784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60003F0A-F6A4-DCC3-CC8E-5CBF0668F52E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F5EE35E-C988-48AB-99F9-81325BD89F74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9456A476-5B9D-37E8-37D4-A5BACD13553D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C2895C54-6609-1299-AA56-B143CC6520DC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323CC31-A88A-E8C5-DCC9-05B588773F28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4D74AC76-C6AA-4A6A-6898-B9F92769C623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E1B2FA94-64FB-9512-D7AC-8EF64BA4123B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87CFFAB-57BC-297E-3032-42CDFE7276BC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E43D90A-1E5D-2B16-9779-4AFD2FADD8CE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5045BA4-8BE8-9B61-1197-4458E22B26DF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A49ED590-C21C-B272-5D0E-35D334F4A265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技术选型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9E72176D-CC40-4FA0-ABCD-3777867D3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124679"/>
              </p:ext>
            </p:extLst>
          </p:nvPr>
        </p:nvGraphicFramePr>
        <p:xfrm>
          <a:off x="897688" y="1561876"/>
          <a:ext cx="10396623" cy="4305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765">
                  <a:extLst>
                    <a:ext uri="{9D8B030D-6E8A-4147-A177-3AD203B41FA5}">
                      <a16:colId xmlns:a16="http://schemas.microsoft.com/office/drawing/2014/main" val="148104273"/>
                    </a:ext>
                  </a:extLst>
                </a:gridCol>
                <a:gridCol w="2610852">
                  <a:extLst>
                    <a:ext uri="{9D8B030D-6E8A-4147-A177-3AD203B41FA5}">
                      <a16:colId xmlns:a16="http://schemas.microsoft.com/office/drawing/2014/main" val="1099753789"/>
                    </a:ext>
                  </a:extLst>
                </a:gridCol>
                <a:gridCol w="5844006">
                  <a:extLst>
                    <a:ext uri="{9D8B030D-6E8A-4147-A177-3AD203B41FA5}">
                      <a16:colId xmlns:a16="http://schemas.microsoft.com/office/drawing/2014/main" val="2084258288"/>
                    </a:ext>
                  </a:extLst>
                </a:gridCol>
              </a:tblGrid>
              <a:tr h="501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类别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技术选型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选型理由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0546958"/>
                  </a:ext>
                </a:extLst>
              </a:tr>
              <a:tr h="18998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核心框架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Java + Spring Boot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理由：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行业标杆，稳定、成熟、生态庞大。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Spring Boot 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提供了强大的事务管理和业务逻辑处理能力，非常适合处理用户、课程、订单等核心业务。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989783"/>
                  </a:ext>
                </a:extLst>
              </a:tr>
              <a:tr h="11416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数据访问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JPA (Spring Data JPA)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理由：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极大简化数据库操作，通过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ORM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（对象关系映射）让开发者更专注于业务逻辑而非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SQL 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语句。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3123722"/>
                  </a:ext>
                </a:extLst>
              </a:tr>
              <a:tr h="7625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构建工具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Maven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理由：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行业标准，用于管理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Java 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项目的依赖和构建流程。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75217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23745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2B1-89C8-6A2C-2E3E-43DD072A6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F654306-AF63-236F-2F84-1511FB65CF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4E063C7D-4615-719E-CDD0-3411D2A55328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A2F7FBB-B06C-B8B1-FAC0-296FB952DB24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39F6F5EE-5507-543E-24DB-AFE0DA822B96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7CCB8D29-28F9-A577-B727-641CAC9781A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CA834CC-8A2D-7863-2291-CBFC93F13CC3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87ED85BB-3A26-8D0F-BACC-8C0370AF6CD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68BFEE04-ED43-C783-5A07-3C28512C3779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DB91C8D-A6A2-B5AA-5B53-3FE93F4E57A6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FEBB333-4337-4BAB-D63A-06204C3986C8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8151355-ED7A-8F61-D14C-828423DD87C4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C4E51F28-FCC2-5C23-BABC-FDDE9F4DD442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技术选型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B875DD8-3868-C43E-E9FD-3FB84BE82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677725"/>
              </p:ext>
            </p:extLst>
          </p:nvPr>
        </p:nvGraphicFramePr>
        <p:xfrm>
          <a:off x="1339849" y="1132523"/>
          <a:ext cx="9512301" cy="528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898">
                  <a:extLst>
                    <a:ext uri="{9D8B030D-6E8A-4147-A177-3AD203B41FA5}">
                      <a16:colId xmlns:a16="http://schemas.microsoft.com/office/drawing/2014/main" val="1204450503"/>
                    </a:ext>
                  </a:extLst>
                </a:gridCol>
                <a:gridCol w="2731169">
                  <a:extLst>
                    <a:ext uri="{9D8B030D-6E8A-4147-A177-3AD203B41FA5}">
                      <a16:colId xmlns:a16="http://schemas.microsoft.com/office/drawing/2014/main" val="4240662262"/>
                    </a:ext>
                  </a:extLst>
                </a:gridCol>
                <a:gridCol w="4788234">
                  <a:extLst>
                    <a:ext uri="{9D8B030D-6E8A-4147-A177-3AD203B41FA5}">
                      <a16:colId xmlns:a16="http://schemas.microsoft.com/office/drawing/2014/main" val="654112263"/>
                    </a:ext>
                  </a:extLst>
                </a:gridCol>
              </a:tblGrid>
              <a:tr h="4867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类别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技术选型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选型理由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462899"/>
                  </a:ext>
                </a:extLst>
              </a:tr>
              <a:tr h="11083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alt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语言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理由：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和数据科学的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事实标准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语言，拥有最丰富的库和社区支持。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6843357"/>
                  </a:ext>
                </a:extLst>
              </a:tr>
              <a:tr h="18444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 </a:t>
                      </a: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服务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FastAPI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理由：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这是一个关键补充。您需要一种方式将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Python AI 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能力暴露为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API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FastAPI 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是一个高性能的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Python Web 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框架，非常适合构建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微服务。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7598750"/>
                  </a:ext>
                </a:extLst>
              </a:tr>
              <a:tr h="18444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zh-CN" alt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应用开发框架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LangChain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理由：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抽象和简化了与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LLM 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交互的复杂性。其 </a:t>
                      </a: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Chains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和 </a:t>
                      </a: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Agents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非常适合实现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定制训练计划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多步作文批改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等复杂逻辑。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411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1344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EF41D-0B40-73C8-837B-92A521983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5CE5DC8-3D53-0F9E-E9FE-573F994DBE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A14F745-797E-BE6C-CD7D-15FCE78A30F9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593038D-40FF-825D-7837-15C6F17D4D1A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023E4C09-5290-C625-5449-094E5EF550B7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2925AC02-749D-6B2E-CE28-30C7C7C855D9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BDE8C71-0478-DEFC-E294-E15109664885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9085706F-8713-06A0-C514-A39FD57D2B1D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74D65D38-FB8D-9921-3D52-DA7D0E03A528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638CCBE-FDA1-151E-65D8-3176DAE58B35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1A9A43A-200F-E40A-0EAB-8C0A26D55B65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1597F8C-6DCE-9FE7-07D1-9F6692814C59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5785189C-4B7F-CA66-2BB3-6167FEA88B66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技术选型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DB9B3362-313C-040E-2875-87C0F55E5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30719"/>
              </p:ext>
            </p:extLst>
          </p:nvPr>
        </p:nvGraphicFramePr>
        <p:xfrm>
          <a:off x="1084179" y="1150572"/>
          <a:ext cx="10023642" cy="524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950">
                  <a:extLst>
                    <a:ext uri="{9D8B030D-6E8A-4147-A177-3AD203B41FA5}">
                      <a16:colId xmlns:a16="http://schemas.microsoft.com/office/drawing/2014/main" val="3417169306"/>
                    </a:ext>
                  </a:extLst>
                </a:gridCol>
                <a:gridCol w="1892934">
                  <a:extLst>
                    <a:ext uri="{9D8B030D-6E8A-4147-A177-3AD203B41FA5}">
                      <a16:colId xmlns:a16="http://schemas.microsoft.com/office/drawing/2014/main" val="3286464665"/>
                    </a:ext>
                  </a:extLst>
                </a:gridCol>
                <a:gridCol w="6511758">
                  <a:extLst>
                    <a:ext uri="{9D8B030D-6E8A-4147-A177-3AD203B41FA5}">
                      <a16:colId xmlns:a16="http://schemas.microsoft.com/office/drawing/2014/main" val="564276708"/>
                    </a:ext>
                  </a:extLst>
                </a:gridCol>
              </a:tblGrid>
              <a:tr h="5200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类别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技术选型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选型理由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20848359"/>
                  </a:ext>
                </a:extLst>
              </a:tr>
              <a:tr h="11842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关系型库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MySQL 8.0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理由：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极其成熟、稳定、可靠。用于存储结构化数据，如：</a:t>
                      </a: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用户信息、训练计划、作文正文、批改结果、评分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等。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4202141"/>
                  </a:ext>
                </a:extLst>
              </a:tr>
              <a:tr h="35436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向量数据库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Milvus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理由：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这是非常正确的选择！用于存储非结构化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半结构化数据的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向量嵌入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Embeddings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）。 </a:t>
                      </a:r>
                      <a:endParaRPr lang="en-US" alt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核心用途：</a:t>
                      </a:r>
                      <a:endParaRPr lang="en-US" altLang="zh-CN" sz="16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1. </a:t>
                      </a: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作文分析：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存储优秀范文的向量，通过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相似度搜索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为学生的作文匹配最合适的范文。</a:t>
                      </a:r>
                      <a:endParaRPr lang="en-US" alt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2. </a:t>
                      </a: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能力分析：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存储学生</a:t>
                      </a:r>
                      <a:r>
                        <a:rPr lang="zh-CN" sz="1600" i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过往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作文的向量，分析其写作风格的演变。</a:t>
                      </a:r>
                      <a:endParaRPr lang="en-US" alt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3. </a:t>
                      </a: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RAG (</a:t>
                      </a: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检索增强生成</a:t>
                      </a: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配合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LLM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，从范文库中检索内容，辅助生成更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言之有物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的批改意见。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950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67570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1B98-8B8D-C3A6-9409-910ABE52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357495F-8B36-B85C-79E4-D7D934C1F63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2BA0DA86-4F39-C5A7-4D3D-505FD41B907C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071197D-E344-6051-183C-CA0DB5B584A6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F7516736-DA5F-0811-973B-7E6876BDE75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5E5283A8-CD40-B97A-90D2-0AC61069445E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1431372-94F7-86A8-AB59-004BF2BBF212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204A57D5-99D6-A2A8-7416-CACE2600C9E5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BBCFCD38-0AB8-412C-FD87-C9EF619AFD09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33025B-1711-DF6D-2F83-2BC37F4A1622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36DB2D3-CCC3-37FC-FA88-E0D9034AD5DC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67D31C2-D9C8-B08C-FDD1-6B8FE5E2C31D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12FF6680-0D30-D753-3317-AA54FBED1EC5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功能架构</a:t>
            </a:r>
          </a:p>
        </p:txBody>
      </p:sp>
    </p:spTree>
    <p:extLst>
      <p:ext uri="{BB962C8B-B14F-4D97-AF65-F5344CB8AC3E}">
        <p14:creationId xmlns:p14="http://schemas.microsoft.com/office/powerpoint/2010/main" val="102443701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3688-D0BE-6039-657D-55F1D817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615277C-08F6-06A4-68CA-B374E3527A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sp useBgFill="1">
        <p:nvSpPr>
          <p:cNvPr id="3" name="圆角矩形 2">
            <a:extLst>
              <a:ext uri="{FF2B5EF4-FFF2-40B4-BE49-F238E27FC236}">
                <a16:creationId xmlns:a16="http://schemas.microsoft.com/office/drawing/2014/main" id="{AF90C48E-9A47-9A20-3E9C-AED274559ACD}"/>
              </a:ext>
            </a:extLst>
          </p:cNvPr>
          <p:cNvSpPr/>
          <p:nvPr/>
        </p:nvSpPr>
        <p:spPr>
          <a:xfrm>
            <a:off x="1457181" y="963453"/>
            <a:ext cx="9277638" cy="4909321"/>
          </a:xfrm>
          <a:prstGeom prst="roundRect">
            <a:avLst>
              <a:gd name="adj" fmla="val 6047"/>
            </a:avLst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83C01C1-F695-655C-D102-5893466A88B0}"/>
              </a:ext>
            </a:extLst>
          </p:cNvPr>
          <p:cNvSpPr/>
          <p:nvPr/>
        </p:nvSpPr>
        <p:spPr>
          <a:xfrm>
            <a:off x="1457180" y="963452"/>
            <a:ext cx="9277639" cy="4909320"/>
          </a:xfrm>
          <a:prstGeom prst="roundRect">
            <a:avLst>
              <a:gd name="adj" fmla="val 6047"/>
            </a:avLst>
          </a:prstGeom>
          <a:solidFill>
            <a:schemeClr val="bg1">
              <a:alpha val="20000"/>
            </a:schemeClr>
          </a:solidFill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6A4BEB-09A5-C4B3-BD10-082D21A8F5E3}"/>
              </a:ext>
            </a:extLst>
          </p:cNvPr>
          <p:cNvSpPr txBox="1"/>
          <p:nvPr/>
        </p:nvSpPr>
        <p:spPr>
          <a:xfrm>
            <a:off x="1913038" y="1840759"/>
            <a:ext cx="317907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99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03</a:t>
            </a:r>
            <a:endParaRPr lang="zh-CN" altLang="en-US" sz="199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Heavy" pitchFamily="18" charset="-122"/>
              <a:ea typeface="阿里巴巴普惠体 Heavy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9986F7-E1A2-2628-1DB9-1D7AE2F8F03B}"/>
              </a:ext>
            </a:extLst>
          </p:cNvPr>
          <p:cNvSpPr txBox="1"/>
          <p:nvPr/>
        </p:nvSpPr>
        <p:spPr>
          <a:xfrm>
            <a:off x="5092113" y="2756393"/>
            <a:ext cx="5414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  <a:cs typeface="+mn-ea"/>
                <a:sym typeface="+mn-lt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116289489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5AE7-E61E-FD9A-F5B1-02FB26A5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2F46B5A-1CE0-B4BB-23CB-92CCD4933AD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FAFC6AE9-E449-702F-B108-3FA5389C0B46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4B70410-D736-E4E0-71AA-368DE4D81E55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E14F85A1-4FAB-147E-641E-B2732B518DB1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341ED488-2716-C0AD-281D-C5709672BF8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3C83C06-FF12-5006-5490-50ED8D95D7D5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CEAB8F1D-BCA3-5FF6-2AC4-D6D8B559E33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7B1F7666-F4BD-EC08-11CD-04C2AD8700F2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682F84B-F48B-21B0-01A8-27507AE5C207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75D6308-4935-F0D2-3170-D780698EAD26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76961CF-64A9-B22E-5A93-AA76EA3E09AD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DFC7BFB1-418A-9BAF-9AED-429265DD4665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数据流图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1518DC5-DAA3-4F88-E4FB-5107A916E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49" y="1033088"/>
            <a:ext cx="10087702" cy="547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9565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F4F0-5774-0483-E5D9-CE212EF7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613E436-E758-27A9-2F3D-45E5C037287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F8DF35AC-73B1-6022-C9D0-AD0DC5E571DE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0A03025-D119-9C35-621D-A886233B358E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1DF5B5F9-1E5B-A465-2492-F8D43B64E2E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DF1C1554-94EE-331D-0200-84884B3BD08E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A9F470D-9D6C-95D8-F12A-8502AF5B0CBB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25F643EE-789A-79A6-27F3-DA198EAC67D3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A2F5FC47-FC16-7967-F39B-E45A8B7ED7E9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1420268-3528-224C-1EC7-A7E86F710BD9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6FB8BEA-17DC-10CB-5C33-BDEEA6886E5A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E2B9F8-1CC4-A10C-F2F9-C36491B86D2B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61757808-6C6B-4978-C3F1-F4089B247375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数据项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4B7BD91-D81F-44CC-1100-054537C6D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701523"/>
              </p:ext>
            </p:extLst>
          </p:nvPr>
        </p:nvGraphicFramePr>
        <p:xfrm>
          <a:off x="404813" y="990600"/>
          <a:ext cx="11382371" cy="5591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702">
                  <a:extLst>
                    <a:ext uri="{9D8B030D-6E8A-4147-A177-3AD203B41FA5}">
                      <a16:colId xmlns:a16="http://schemas.microsoft.com/office/drawing/2014/main" val="1067866123"/>
                    </a:ext>
                  </a:extLst>
                </a:gridCol>
                <a:gridCol w="1913027">
                  <a:extLst>
                    <a:ext uri="{9D8B030D-6E8A-4147-A177-3AD203B41FA5}">
                      <a16:colId xmlns:a16="http://schemas.microsoft.com/office/drawing/2014/main" val="2507750966"/>
                    </a:ext>
                  </a:extLst>
                </a:gridCol>
                <a:gridCol w="1195644">
                  <a:extLst>
                    <a:ext uri="{9D8B030D-6E8A-4147-A177-3AD203B41FA5}">
                      <a16:colId xmlns:a16="http://schemas.microsoft.com/office/drawing/2014/main" val="2168441045"/>
                    </a:ext>
                  </a:extLst>
                </a:gridCol>
                <a:gridCol w="2286666">
                  <a:extLst>
                    <a:ext uri="{9D8B030D-6E8A-4147-A177-3AD203B41FA5}">
                      <a16:colId xmlns:a16="http://schemas.microsoft.com/office/drawing/2014/main" val="461679781"/>
                    </a:ext>
                  </a:extLst>
                </a:gridCol>
                <a:gridCol w="1165751">
                  <a:extLst>
                    <a:ext uri="{9D8B030D-6E8A-4147-A177-3AD203B41FA5}">
                      <a16:colId xmlns:a16="http://schemas.microsoft.com/office/drawing/2014/main" val="3777458687"/>
                    </a:ext>
                  </a:extLst>
                </a:gridCol>
                <a:gridCol w="3407581">
                  <a:extLst>
                    <a:ext uri="{9D8B030D-6E8A-4147-A177-3AD203B41FA5}">
                      <a16:colId xmlns:a16="http://schemas.microsoft.com/office/drawing/2014/main" val="2980459371"/>
                    </a:ext>
                  </a:extLst>
                </a:gridCol>
              </a:tblGrid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数据项名称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别名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格式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约束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定义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972766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学生编号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"STU" + 12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位数字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唯一，非空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用于唯一标识系统内学生的编号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1040352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综合能力分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综合分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两位小数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之间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学生的写作能力综合评分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3931398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语法能力分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语法分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两位小数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之间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学生的写作能力语法项评分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6821943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结构能力分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结构分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两位小数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之间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学生的写作能力结构项评分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7776939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内容能力分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内容分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两位小数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之间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学生的写作能力内容项评分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0742379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题目编号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位的数字字符串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唯一，非空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用于唯一标识系统内题目的编号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8287868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题目内容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文本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描述题目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226605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题目列表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题目列表编号、列表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位的数字字符串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唯一，非空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用于唯一标识系统内题目列表的编号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058623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请求类型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请求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确定请求类型，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0=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新计划，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1=</a:t>
                      </a: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调整计划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8367262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计划</a:t>
                      </a:r>
                      <a:r>
                        <a:rPr lang="en-US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计划编号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位的数字字符串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唯一，非空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用于唯一标识系统内训练计划的编号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116238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特殊要求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特殊需求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文本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可空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对训练计划的特殊要求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04701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评估时间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评估日期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日期时间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YYYY-MM-DD HH:MM:SS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学生能力评估的时间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072985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训练目标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目标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文本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训练计划旨在达到的具体目标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598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91290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2AD18-DFF2-2B46-B540-CA5EFF60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F41849A-5BD3-18E2-073B-3BB78928A9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76FEF799-BA4E-9237-8A22-DE1B81092D43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C50A46B-85EE-136B-42C2-D694467E99B7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3DABB1CC-31B0-A9D8-0FBA-3D5ABD53CA5F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A124DC6C-9CE2-432A-739D-4C80392CF61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AFBD8FD-D0B2-1DFF-4DC8-61E60C73B25A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B8E23A97-04E6-2E7D-2C66-D6D7C65CA080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291F9A41-C5BC-CB3E-0CDE-702BD386B6D8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03FDFCF-7A08-AFDB-1952-37B55880F0B0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725CB42-21D4-6547-2234-3192ABA22EEC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382A037-B30A-592A-B83E-2408C8923574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65AB688B-802C-2BC7-C3BD-35B262EE017D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数据结构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AF862F0-63BB-F72B-1D1A-F430CE30A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443595"/>
              </p:ext>
            </p:extLst>
          </p:nvPr>
        </p:nvGraphicFramePr>
        <p:xfrm>
          <a:off x="1838575" y="1533526"/>
          <a:ext cx="8514849" cy="448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283">
                  <a:extLst>
                    <a:ext uri="{9D8B030D-6E8A-4147-A177-3AD203B41FA5}">
                      <a16:colId xmlns:a16="http://schemas.microsoft.com/office/drawing/2014/main" val="541550429"/>
                    </a:ext>
                  </a:extLst>
                </a:gridCol>
                <a:gridCol w="2838283">
                  <a:extLst>
                    <a:ext uri="{9D8B030D-6E8A-4147-A177-3AD203B41FA5}">
                      <a16:colId xmlns:a16="http://schemas.microsoft.com/office/drawing/2014/main" val="1676435183"/>
                    </a:ext>
                  </a:extLst>
                </a:gridCol>
                <a:gridCol w="2838283">
                  <a:extLst>
                    <a:ext uri="{9D8B030D-6E8A-4147-A177-3AD203B41FA5}">
                      <a16:colId xmlns:a16="http://schemas.microsoft.com/office/drawing/2014/main" val="1638416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数据结构名称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简述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组成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37993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能力值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储存各项能力的评分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综合能力分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语法能力分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结构能力分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内容能力分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3213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学生能力档案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存储学生的能力信息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 +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能力值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评估时间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61358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题目数据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存储题目的基本信息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 +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题目内容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60850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题目列表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由多个题目数据组成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题目列表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 + {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题目数据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42142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计划生成请求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请求生成新训练计划的数据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 +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请求类型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+ (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特殊要求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53162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计划内容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训练计划的内容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题目列表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 + 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训练目标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29749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训练计划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为学生生成的个性化训练计划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计划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 + 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 + 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计划内容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22756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90309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B8AF-2B78-05AF-C1AF-6C2AB292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3BC209A-C4DA-21CD-1D55-FD5FBAD386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FA555EB4-7B0D-2B17-4C69-3A5266662F36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648FD24-D826-6C0D-EEAD-37794B90448C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FF983EC8-2D97-BA71-953C-5D8DEA4F9A5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D7243BAE-45F4-B572-4B3E-5BEA6090D204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FFFF4D2-0279-3460-7709-EA0684F785D8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BC0673DD-0B1F-8A7C-42CE-7D8DAFA05E2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90C026DD-30F4-A587-D84A-DD785E124C33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938A514-A963-BF31-73AB-5BA4B0AC7B88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51CAFFA-09F1-11FE-9E75-3C92BDF9D8CB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35871D-0154-679A-D564-219B5A0DFB90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E7D33E94-B30A-A261-3E00-76FF97E778EE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数据流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53F27B2-F778-73CC-073C-F9A7C11FE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25995"/>
              </p:ext>
            </p:extLst>
          </p:nvPr>
        </p:nvGraphicFramePr>
        <p:xfrm>
          <a:off x="1241927" y="1567945"/>
          <a:ext cx="9708145" cy="4413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629">
                  <a:extLst>
                    <a:ext uri="{9D8B030D-6E8A-4147-A177-3AD203B41FA5}">
                      <a16:colId xmlns:a16="http://schemas.microsoft.com/office/drawing/2014/main" val="99404748"/>
                    </a:ext>
                  </a:extLst>
                </a:gridCol>
                <a:gridCol w="2495349">
                  <a:extLst>
                    <a:ext uri="{9D8B030D-6E8A-4147-A177-3AD203B41FA5}">
                      <a16:colId xmlns:a16="http://schemas.microsoft.com/office/drawing/2014/main" val="2435723529"/>
                    </a:ext>
                  </a:extLst>
                </a:gridCol>
                <a:gridCol w="1768642">
                  <a:extLst>
                    <a:ext uri="{9D8B030D-6E8A-4147-A177-3AD203B41FA5}">
                      <a16:colId xmlns:a16="http://schemas.microsoft.com/office/drawing/2014/main" val="3214854955"/>
                    </a:ext>
                  </a:extLst>
                </a:gridCol>
                <a:gridCol w="1937085">
                  <a:extLst>
                    <a:ext uri="{9D8B030D-6E8A-4147-A177-3AD203B41FA5}">
                      <a16:colId xmlns:a16="http://schemas.microsoft.com/office/drawing/2014/main" val="1433582286"/>
                    </a:ext>
                  </a:extLst>
                </a:gridCol>
                <a:gridCol w="1565440">
                  <a:extLst>
                    <a:ext uri="{9D8B030D-6E8A-4147-A177-3AD203B41FA5}">
                      <a16:colId xmlns:a16="http://schemas.microsoft.com/office/drawing/2014/main" val="2970819121"/>
                    </a:ext>
                  </a:extLst>
                </a:gridCol>
              </a:tblGrid>
              <a:tr h="50983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spc="4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数据流名称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简述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来源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去向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数据结构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3793121898"/>
                  </a:ext>
                </a:extLst>
              </a:tr>
              <a:tr h="78068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学生能力档案数据流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传输学生的能力信息以生成训练计划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学生能力档案库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计划生成模块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学生能力档案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1142611463"/>
                  </a:ext>
                </a:extLst>
              </a:tr>
              <a:tr h="78068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题目数据流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根据学生能力档案检索到的可用题目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训练题目库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智能推荐模块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题目数据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432064422"/>
                  </a:ext>
                </a:extLst>
              </a:tr>
              <a:tr h="78068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题目列表数据流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提供生成的题目列表以构建训练计划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智能推荐模块、题目生成模块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计划生成模块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题目列表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1696875791"/>
                  </a:ext>
                </a:extLst>
              </a:tr>
              <a:tr h="78068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计划生成请求数据流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发送计划生成请求以触发训练计划的生成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学生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计划生成模块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计划生成请求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3435708451"/>
                  </a:ext>
                </a:extLst>
              </a:tr>
              <a:tr h="78068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训练计划数据流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发送生成的训练计划给学生和训练计划库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计划生成模块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训练计划库、学生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spc="4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训练计划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535353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15422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5003-5EF2-0C8B-0405-83191208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C468009-CA2C-EF23-CD18-7469C30C053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507CA7F9-A71D-1A83-5C0E-3F8E2524736A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EAF8D14-3DFD-CECF-EC46-45EA65EB90B2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E9CED066-E0D6-B344-3208-05B2E5A27524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C9BF191E-D733-26F5-6F2F-2C7B7176848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A18A833-35F8-66C6-CE54-7D1EBB5C7934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2D205B27-A4D3-8562-87AB-79BBAAA7E186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7BE17308-3036-6389-9950-42420460DF48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CE08E63-C102-7EF7-E440-D53F3E79D20D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C0D809B-F4F9-1008-B4FD-C7D0AB17B89E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598F7F4-1E26-103D-258F-9A301BEB1020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E9B38B5D-A9DB-1BE1-F9E6-8CE264E0AFC9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数据储存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7819BA5-B8E2-E11A-60D9-9BF547DC7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582613"/>
              </p:ext>
            </p:extLst>
          </p:nvPr>
        </p:nvGraphicFramePr>
        <p:xfrm>
          <a:off x="1244182" y="2238374"/>
          <a:ext cx="9703635" cy="2381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727">
                  <a:extLst>
                    <a:ext uri="{9D8B030D-6E8A-4147-A177-3AD203B41FA5}">
                      <a16:colId xmlns:a16="http://schemas.microsoft.com/office/drawing/2014/main" val="4106601128"/>
                    </a:ext>
                  </a:extLst>
                </a:gridCol>
                <a:gridCol w="2433838">
                  <a:extLst>
                    <a:ext uri="{9D8B030D-6E8A-4147-A177-3AD203B41FA5}">
                      <a16:colId xmlns:a16="http://schemas.microsoft.com/office/drawing/2014/main" val="3162472695"/>
                    </a:ext>
                  </a:extLst>
                </a:gridCol>
                <a:gridCol w="1624264">
                  <a:extLst>
                    <a:ext uri="{9D8B030D-6E8A-4147-A177-3AD203B41FA5}">
                      <a16:colId xmlns:a16="http://schemas.microsoft.com/office/drawing/2014/main" val="1898894457"/>
                    </a:ext>
                  </a:extLst>
                </a:gridCol>
                <a:gridCol w="2490536">
                  <a:extLst>
                    <a:ext uri="{9D8B030D-6E8A-4147-A177-3AD203B41FA5}">
                      <a16:colId xmlns:a16="http://schemas.microsoft.com/office/drawing/2014/main" val="384020207"/>
                    </a:ext>
                  </a:extLst>
                </a:gridCol>
                <a:gridCol w="1214270">
                  <a:extLst>
                    <a:ext uri="{9D8B030D-6E8A-4147-A177-3AD203B41FA5}">
                      <a16:colId xmlns:a16="http://schemas.microsoft.com/office/drawing/2014/main" val="255229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数据存储名称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简述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组成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访问方式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存储介质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2374799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学生能力档案库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存储学生的能力信息和评估记录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学生能力档案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通过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"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ID"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随机读写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3676259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训练题目库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存储可供训练的题目信息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题目数据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通过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"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题目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ID"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随机读写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1685352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训练计划库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存储为学生生成的个性化训练计划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训练计划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通过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"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计划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ID" 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随机读写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数据库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3066548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87798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C8D95-8B8B-F446-8772-4B25C0D2A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AAAA98E-24DD-BDF8-1649-64AC066E047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0F13D76-4A2B-8646-A546-BE3132113058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CA34D46-839A-B0D9-D1B8-F67D75D26C8B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B8534890-DFA9-F4AA-3665-0AF9D026385F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75D19F15-18A7-3581-921C-6190F3D1A905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C821E0D-504C-FFA6-0993-4124FD632A29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EA65458E-8441-9B25-7DC1-BA43384BC637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57018EC0-6EF7-29C3-4AD2-D19CE054B204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EC6B7B-3BA3-1B2B-3569-F1AC6C18F4EF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1FDD080-3C71-DFCD-9299-AEF275483981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00A36CB-F7E8-D38C-E0E0-A58CF779D0E0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28FAB411-BF4C-5F4A-FD47-E6D39AC0BF69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AI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作文批改模块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8E0D3A3-52D7-8B5F-EC78-4001B0675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163" y="1003067"/>
            <a:ext cx="9255673" cy="554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925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517E4-447D-1D80-A9F4-FC360281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93D2CD8-A3D4-6054-43F7-28281E53C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9AB9DB1-6DC9-9F31-D9D7-D7E43FDB1B4E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48E0D63-F46C-8CCF-FE48-4E61654E4DE0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639208C8-DC1A-FB54-D9D6-E5815B568EB6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26A32C9E-4867-32EC-BFFB-787C8CB32F81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F27E2B3-BC46-F20C-F81E-CE928BA3B626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C49C1705-DE76-E9E0-DDFA-6431AB0FD3C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17360DB7-D384-6295-C143-EBC8C7E085C8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EB107D2-ACD3-D5EF-1AF3-8ECBB084BC8D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1A4F06E-CDB8-6C92-87A2-915284F928A1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1C9DB1C-893B-41BA-E796-3DA9EBEA5E18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587DDA3C-0B23-3EE2-4F3F-254EE6E295E8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数据项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084FC3F-A9C4-96F9-F71A-AB9043912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716037"/>
              </p:ext>
            </p:extLst>
          </p:nvPr>
        </p:nvGraphicFramePr>
        <p:xfrm>
          <a:off x="404813" y="990600"/>
          <a:ext cx="11382372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482">
                  <a:extLst>
                    <a:ext uri="{9D8B030D-6E8A-4147-A177-3AD203B41FA5}">
                      <a16:colId xmlns:a16="http://schemas.microsoft.com/office/drawing/2014/main" val="2360381375"/>
                    </a:ext>
                  </a:extLst>
                </a:gridCol>
                <a:gridCol w="1275347">
                  <a:extLst>
                    <a:ext uri="{9D8B030D-6E8A-4147-A177-3AD203B41FA5}">
                      <a16:colId xmlns:a16="http://schemas.microsoft.com/office/drawing/2014/main" val="3539162949"/>
                    </a:ext>
                  </a:extLst>
                </a:gridCol>
                <a:gridCol w="1431758">
                  <a:extLst>
                    <a:ext uri="{9D8B030D-6E8A-4147-A177-3AD203B41FA5}">
                      <a16:colId xmlns:a16="http://schemas.microsoft.com/office/drawing/2014/main" val="3990729693"/>
                    </a:ext>
                  </a:extLst>
                </a:gridCol>
                <a:gridCol w="2719137">
                  <a:extLst>
                    <a:ext uri="{9D8B030D-6E8A-4147-A177-3AD203B41FA5}">
                      <a16:colId xmlns:a16="http://schemas.microsoft.com/office/drawing/2014/main" val="282278846"/>
                    </a:ext>
                  </a:extLst>
                </a:gridCol>
                <a:gridCol w="1467852">
                  <a:extLst>
                    <a:ext uri="{9D8B030D-6E8A-4147-A177-3AD203B41FA5}">
                      <a16:colId xmlns:a16="http://schemas.microsoft.com/office/drawing/2014/main" val="40343398"/>
                    </a:ext>
                  </a:extLst>
                </a:gridCol>
                <a:gridCol w="3256796">
                  <a:extLst>
                    <a:ext uri="{9D8B030D-6E8A-4147-A177-3AD203B41FA5}">
                      <a16:colId xmlns:a16="http://schemas.microsoft.com/office/drawing/2014/main" val="3204108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数据项名称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别名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格式</a:t>
                      </a:r>
                      <a:r>
                        <a:rPr lang="en-US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单位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约束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定义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894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</a:t>
                      </a:r>
                      <a:r>
                        <a:rPr lang="en-US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6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学生编号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字符串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"STU" + 12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位数字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唯一，非空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用于唯一标识系统内学生的编号</a:t>
                      </a: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407090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</a:t>
                      </a:r>
                      <a:r>
                        <a:rPr lang="en-US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作文编号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+ 11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位数字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唯一，非空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单篇作文的唯一标识符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5047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作文内容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内容，作文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文本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学生提交的作文内容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3880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提交时间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提交日期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日期时间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YYYY-MM-DD HH:MM:SS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学生提交作文的时间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458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批改时间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批改日期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日期时间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YYYY-MM-DD HH:MM:SS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批改生成的时间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31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</a:t>
                      </a:r>
                      <a:r>
                        <a:rPr lang="en-US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结果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+ 11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位数字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唯一，非空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一次批改结果的唯一标识符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14015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内容得分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内容分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两位小数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之间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内容分析模块给出的分数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486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内容评语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内容建议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文本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内容分析模块给出的文字反馈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21268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语法得分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语法分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两位小数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之间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语法分析模块给出的分数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829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语法错误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错误详情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文本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可空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语法分析模块识别的具体错误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886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结构得分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结构分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两位小数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之间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结构分析模块给出的分数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668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结构评语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结构建议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文本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结构分析模块给出的文字反馈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0227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总得分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总分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整数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之间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批改模块汇总计算的最终得分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7232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综合评语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评语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文本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非空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批改模块汇总生成的总体评语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0192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14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1A0D9-B65E-1E20-C4DB-9E8C4A45B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C08E713-BDC0-8571-B658-4BB722131EE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91408B55-00F7-AED0-05D5-A46CF7737D03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E189E7D-EA68-C55E-DBDB-549CD1550949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0EC2B36C-596C-19E0-32BD-8DF8528F7BAD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8CB9633C-0AEB-DC03-762C-027506AB1A35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E3A2EE6-F279-A70C-F943-CF1BA49B2C3B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17BC7461-5F20-A53A-CA29-C33E5A3385E3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FC49EDCD-ADFC-26DC-36DF-EB94E2CA666C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ECF4320-3BF8-B58A-10B6-A947227898E6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6EFDDB2-5B55-6456-31F7-0765AB260120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AC453C6-A3BF-D24E-2418-1D4B4AEF4991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45489110-64A1-0CF4-B22B-78182C30BD79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数据结构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EE8A638-839B-0225-784F-F08C0D8FD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574101"/>
              </p:ext>
            </p:extLst>
          </p:nvPr>
        </p:nvGraphicFramePr>
        <p:xfrm>
          <a:off x="2283994" y="1628905"/>
          <a:ext cx="7624011" cy="429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317">
                  <a:extLst>
                    <a:ext uri="{9D8B030D-6E8A-4147-A177-3AD203B41FA5}">
                      <a16:colId xmlns:a16="http://schemas.microsoft.com/office/drawing/2014/main" val="3962635054"/>
                    </a:ext>
                  </a:extLst>
                </a:gridCol>
                <a:gridCol w="3438357">
                  <a:extLst>
                    <a:ext uri="{9D8B030D-6E8A-4147-A177-3AD203B41FA5}">
                      <a16:colId xmlns:a16="http://schemas.microsoft.com/office/drawing/2014/main" val="1657285998"/>
                    </a:ext>
                  </a:extLst>
                </a:gridCol>
                <a:gridCol w="2541337">
                  <a:extLst>
                    <a:ext uri="{9D8B030D-6E8A-4147-A177-3AD203B41FA5}">
                      <a16:colId xmlns:a16="http://schemas.microsoft.com/office/drawing/2014/main" val="3706059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数据结构名称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简述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组成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1540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作文信息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学生提交的包含元数据和正文的完整作文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学生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作文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作文内容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提交时间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4068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内容批改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内容分析模块的输出结果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作文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内容得分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内容评语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6632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语法批改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语法分析模块的输出结果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作文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语法得分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语法错误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9909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结构批改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结构分析模块的输出结果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作文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结构得分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结构评语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8301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批改结果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批改模块汇总的最终完整批改报告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批改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作文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学生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总得分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综合评语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内容批改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语法批改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结构批改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批改时间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694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批改信息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发送回给学生的批改反馈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批改结果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 (</a:t>
                      </a:r>
                      <a:r>
                        <a:rPr lang="zh-CN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通常是批改结果的简化或完整视图</a:t>
                      </a:r>
                      <a:r>
                        <a:rPr lang="en-US" sz="1600" b="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691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58364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5F714-84D4-C7A0-823E-D0C6B635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FAD14A-DA68-CF07-0687-6338F68DBF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B157A699-88B7-B201-775A-7C78E4EDC967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2D0E220-195F-A2E5-5BDC-5C55F6BF8BA1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D941F48F-53E6-CCB8-7D9E-D48F7D8AC2AF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7A2337EA-43B2-3D97-C1D2-E39DA521EC8E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AD40C79-3BD8-F738-29AA-F215242AECC8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A12485DD-4259-B3B7-1D63-F1BDC02D9938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8399BAA8-E7FB-51C1-C5CF-9472CA21D8DB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E815EEF-F70B-0680-1656-F9F228F0469D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9104654-936E-1BBF-EE9F-E5B47BDA6AD0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F408D68-FA28-9DF5-61E1-0BE8B4487FAC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F61E620A-E18F-C7D0-2245-0413798CB1C0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数据流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8F25BD4-A3D0-31CD-AA56-7BBCE2EB3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118345"/>
              </p:ext>
            </p:extLst>
          </p:nvPr>
        </p:nvGraphicFramePr>
        <p:xfrm>
          <a:off x="2032000" y="1437292"/>
          <a:ext cx="8128000" cy="4674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9570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59369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745549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389157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00768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数据流名称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简述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来源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去向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数据结构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9342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作文信息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学生提交作文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作文信息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2524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批改信息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返回给学生的反馈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学生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批改信息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4164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作文信息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提交作文以分析内容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内容分析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作文信息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3908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内容批改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内容分析的反馈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内容分析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内容批改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3876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提交作文以分析语法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语法分析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作文内容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15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语法批改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语法分析的反馈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语法分析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语法批改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72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提交作文以分析结构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结构分析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作文内容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9651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结构批改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结构分析的反馈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结构分析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结构批改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271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批改结果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存储最终批改记录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批改模块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批改结果库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批改结果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6475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44768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AADBF-B336-64B6-0A2C-324EA1B1F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EF22F3F-6AE7-1381-0549-DB81495E68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ABF178DC-D2D3-2A19-7740-E049996A3EF5}"/>
              </a:ext>
            </a:extLst>
          </p:cNvPr>
          <p:cNvGrpSpPr/>
          <p:nvPr/>
        </p:nvGrpSpPr>
        <p:grpSpPr>
          <a:xfrm>
            <a:off x="404815" y="266030"/>
            <a:ext cx="11382372" cy="6301968"/>
            <a:chOff x="404815" y="266030"/>
            <a:chExt cx="11382372" cy="630196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1350AE9-D68B-967E-BFA0-67CCE2ACA2BB}"/>
                </a:ext>
              </a:extLst>
            </p:cNvPr>
            <p:cNvGrpSpPr/>
            <p:nvPr/>
          </p:nvGrpSpPr>
          <p:grpSpPr>
            <a:xfrm>
              <a:off x="404815" y="990600"/>
              <a:ext cx="11382372" cy="5577398"/>
              <a:chOff x="7158198" y="963453"/>
              <a:chExt cx="3648359" cy="4909321"/>
            </a:xfrm>
          </p:grpSpPr>
          <p:sp useBgFill="1"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E6658A04-84B3-988E-9ED4-ED4193E5291C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6047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D76F8437-2D45-42D3-C78E-E20EAFE5C3C4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0996"/>
              </a:xfrm>
              <a:prstGeom prst="roundRect">
                <a:avLst>
                  <a:gd name="adj" fmla="val 6047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5D93A21-D845-7C71-908E-A9DD6EB1CAD2}"/>
                </a:ext>
              </a:extLst>
            </p:cNvPr>
            <p:cNvGrpSpPr/>
            <p:nvPr/>
          </p:nvGrpSpPr>
          <p:grpSpPr>
            <a:xfrm>
              <a:off x="404815" y="266030"/>
              <a:ext cx="11382372" cy="568938"/>
              <a:chOff x="7158198" y="880461"/>
              <a:chExt cx="3648359" cy="4992313"/>
            </a:xfrm>
          </p:grpSpPr>
          <p:sp useBgFill="1"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663C90A0-EC03-6B5F-652E-BCC2712BFF3A}"/>
                  </a:ext>
                </a:extLst>
              </p:cNvPr>
              <p:cNvSpPr/>
              <p:nvPr/>
            </p:nvSpPr>
            <p:spPr>
              <a:xfrm>
                <a:off x="7158198" y="963453"/>
                <a:ext cx="3648359" cy="4909321"/>
              </a:xfrm>
              <a:prstGeom prst="roundRect">
                <a:avLst>
                  <a:gd name="adj" fmla="val 50000"/>
                </a:avLst>
              </a:prstGeom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9CBC93F8-DD51-3052-FE9E-DC710B3EC64B}"/>
                  </a:ext>
                </a:extLst>
              </p:cNvPr>
              <p:cNvSpPr/>
              <p:nvPr/>
            </p:nvSpPr>
            <p:spPr>
              <a:xfrm>
                <a:off x="7158198" y="880461"/>
                <a:ext cx="3648359" cy="490932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0000"/>
                </a:schemeClr>
              </a:solidFill>
              <a:ln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</a:ln>
              <a:effectLst>
                <a:outerShdw blurRad="2667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D4BB472-9522-E080-2D00-0EDB8226DDBB}"/>
              </a:ext>
            </a:extLst>
          </p:cNvPr>
          <p:cNvGrpSpPr/>
          <p:nvPr/>
        </p:nvGrpSpPr>
        <p:grpSpPr>
          <a:xfrm>
            <a:off x="647700" y="523875"/>
            <a:ext cx="10896600" cy="0"/>
            <a:chOff x="647700" y="523875"/>
            <a:chExt cx="10896600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E46098F-C391-4317-AC8F-577E4105D262}"/>
                </a:ext>
              </a:extLst>
            </p:cNvPr>
            <p:cNvCxnSpPr/>
            <p:nvPr/>
          </p:nvCxnSpPr>
          <p:spPr>
            <a:xfrm>
              <a:off x="802005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4D1E47C-2836-FF50-F830-74DAD8C2B736}"/>
                </a:ext>
              </a:extLst>
            </p:cNvPr>
            <p:cNvCxnSpPr/>
            <p:nvPr/>
          </p:nvCxnSpPr>
          <p:spPr>
            <a:xfrm>
              <a:off x="647700" y="523875"/>
              <a:ext cx="3524250" cy="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2">
            <a:extLst>
              <a:ext uri="{FF2B5EF4-FFF2-40B4-BE49-F238E27FC236}">
                <a16:creationId xmlns:a16="http://schemas.microsoft.com/office/drawing/2014/main" id="{75964A17-AC9B-5E78-6335-CDACDF95044F}"/>
              </a:ext>
            </a:extLst>
          </p:cNvPr>
          <p:cNvSpPr txBox="1"/>
          <p:nvPr/>
        </p:nvSpPr>
        <p:spPr>
          <a:xfrm>
            <a:off x="4238640" y="324395"/>
            <a:ext cx="371472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数据存储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71908F2-5980-3E09-ED84-BE2A07444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919642"/>
              </p:ext>
            </p:extLst>
          </p:nvPr>
        </p:nvGraphicFramePr>
        <p:xfrm>
          <a:off x="1354887" y="2961544"/>
          <a:ext cx="9482225" cy="934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445">
                  <a:extLst>
                    <a:ext uri="{9D8B030D-6E8A-4147-A177-3AD203B41FA5}">
                      <a16:colId xmlns:a16="http://schemas.microsoft.com/office/drawing/2014/main" val="2333984681"/>
                    </a:ext>
                  </a:extLst>
                </a:gridCol>
                <a:gridCol w="1896445">
                  <a:extLst>
                    <a:ext uri="{9D8B030D-6E8A-4147-A177-3AD203B41FA5}">
                      <a16:colId xmlns:a16="http://schemas.microsoft.com/office/drawing/2014/main" val="814359977"/>
                    </a:ext>
                  </a:extLst>
                </a:gridCol>
                <a:gridCol w="1896445">
                  <a:extLst>
                    <a:ext uri="{9D8B030D-6E8A-4147-A177-3AD203B41FA5}">
                      <a16:colId xmlns:a16="http://schemas.microsoft.com/office/drawing/2014/main" val="4238768849"/>
                    </a:ext>
                  </a:extLst>
                </a:gridCol>
                <a:gridCol w="1896445">
                  <a:extLst>
                    <a:ext uri="{9D8B030D-6E8A-4147-A177-3AD203B41FA5}">
                      <a16:colId xmlns:a16="http://schemas.microsoft.com/office/drawing/2014/main" val="947220359"/>
                    </a:ext>
                  </a:extLst>
                </a:gridCol>
                <a:gridCol w="1896445">
                  <a:extLst>
                    <a:ext uri="{9D8B030D-6E8A-4147-A177-3AD203B41FA5}">
                      <a16:colId xmlns:a16="http://schemas.microsoft.com/office/drawing/2014/main" val="1307677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数据存储名称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简述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数据结构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存储介质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访问方式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8725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批改结果库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存储所有已完成的作文批改历史记录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b="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批改结果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数据库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通过“批改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”随机读写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20646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61089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  <p:sp useBgFill="1">
        <p:nvSpPr>
          <p:cNvPr id="6" name="圆角矩形 5"/>
          <p:cNvSpPr/>
          <p:nvPr/>
        </p:nvSpPr>
        <p:spPr>
          <a:xfrm>
            <a:off x="1370388" y="1864055"/>
            <a:ext cx="9451224" cy="2889250"/>
          </a:xfrm>
          <a:prstGeom prst="roundRect">
            <a:avLst/>
          </a:prstGeom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370388" y="1864056"/>
            <a:ext cx="9451224" cy="2889250"/>
          </a:xfrm>
          <a:prstGeom prst="roundRect">
            <a:avLst>
              <a:gd name="adj" fmla="val 16810"/>
            </a:avLst>
          </a:prstGeom>
          <a:solidFill>
            <a:schemeClr val="bg1">
              <a:alpha val="20000"/>
            </a:schemeClr>
          </a:solidFill>
          <a:ln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667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20052" y="2708516"/>
            <a:ext cx="57518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Heavy" pitchFamily="18" charset="-122"/>
                <a:ea typeface="阿里巴巴普惠体 Heavy" pitchFamily="18" charset="-122"/>
              </a:rPr>
              <a:t>THANK YOU</a:t>
            </a:r>
            <a:endParaRPr lang="zh-CN" altLang="en-US" sz="7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Heavy" pitchFamily="18" charset="-122"/>
              <a:ea typeface="阿里巴巴普惠体 Heavy" pitchFamily="18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1267</TotalTime>
  <Words>1815</Words>
  <Application>Microsoft Office PowerPoint</Application>
  <PresentationFormat>宽屏</PresentationFormat>
  <Paragraphs>441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inherit</vt:lpstr>
      <vt:lpstr>quote-cjk-patch</vt:lpstr>
      <vt:lpstr>阿里巴巴普惠体 Heavy</vt:lpstr>
      <vt:lpstr>等线</vt:lpstr>
      <vt:lpstr>等线 Light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创意工作报告</dc:title>
  <dc:creator>第一PPT</dc:creator>
  <cp:keywords>www.1ppt.com</cp:keywords>
  <dc:description>www.1ppt.com</dc:description>
  <cp:lastModifiedBy>沐 林</cp:lastModifiedBy>
  <cp:revision>62</cp:revision>
  <dcterms:created xsi:type="dcterms:W3CDTF">2022-02-23T05:01:00Z</dcterms:created>
  <dcterms:modified xsi:type="dcterms:W3CDTF">2025-10-30T14:00:04Z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BA9FE3D890F242B18CBCE0454A690100</vt:lpwstr>
  </property>
  <property fmtid="{D5CDD505-2E9C-101B-9397-08002B2CF9AE}" pid="3" name="KSOProductBuildVer">
    <vt:lpwstr>2052-12.1.0.20784</vt:lpwstr>
  </property>
  <property fmtid="{D5CDD505-2E9C-101B-9397-08002B2CF9AE}" pid="4" name="KSOTemplateUUID">
    <vt:lpwstr>v1.0_mb_dAE46KpFP+2yeRbK7IjqyQ==</vt:lpwstr>
  </property>
</Properties>
</file>